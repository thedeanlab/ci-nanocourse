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" name="Shape 12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1" name="Shape 1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 Lessons Learned in Software Testing, Cem Kaner, James Bach, and Brett Pettichord provided the origin of the term: "The phrase smoke test comes from electronic hardware testing. You plug in a new board and turn on the power. If you see smoke coming from the board, turn off the power. You don't have to do any more testing."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6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6"/>
          <p:cNvSpPr/>
          <p:nvPr/>
        </p:nvSpPr>
        <p:spPr>
          <a:xfrm>
            <a:off x="0" y="6219826"/>
            <a:ext cx="12192000" cy="638174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" name="Rectangle 7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5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21455" y="6211058"/>
            <a:ext cx="2155826" cy="655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77280" y="6250652"/>
            <a:ext cx="576521" cy="576521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6"/>
          <p:cNvSpPr/>
          <p:nvPr/>
        </p:nvSpPr>
        <p:spPr>
          <a:xfrm>
            <a:off x="0" y="6219826"/>
            <a:ext cx="12192000" cy="638174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" name="Rectangle 7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8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21455" y="6211058"/>
            <a:ext cx="2155826" cy="655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77280" y="6250652"/>
            <a:ext cx="576521" cy="576521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1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6"/>
          <p:cNvSpPr/>
          <p:nvPr/>
        </p:nvSpPr>
        <p:spPr>
          <a:xfrm>
            <a:off x="0" y="6219826"/>
            <a:ext cx="12192000" cy="638174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" name="Rectangle 7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1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21455" y="6211058"/>
            <a:ext cx="2155826" cy="655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77280" y="6250652"/>
            <a:ext cx="576521" cy="576521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4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5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6219826"/>
            <a:ext cx="12192000" cy="638174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" name="Rectangle 7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5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21455" y="6211058"/>
            <a:ext cx="2155826" cy="655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77280" y="6250652"/>
            <a:ext cx="576521" cy="576521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"/>
          <p:cNvSpPr/>
          <p:nvPr/>
        </p:nvSpPr>
        <p:spPr>
          <a:xfrm>
            <a:off x="0" y="6219826"/>
            <a:ext cx="12192000" cy="638174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" name="Rectangle 7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7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21455" y="6211058"/>
            <a:ext cx="2155826" cy="655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77280" y="6250652"/>
            <a:ext cx="576521" cy="576521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6"/>
          <p:cNvSpPr/>
          <p:nvPr/>
        </p:nvSpPr>
        <p:spPr>
          <a:xfrm>
            <a:off x="0" y="6219826"/>
            <a:ext cx="12192000" cy="638174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Rectangle 7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8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21455" y="6211058"/>
            <a:ext cx="2155826" cy="655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77280" y="6250652"/>
            <a:ext cx="576521" cy="576521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6"/>
          <p:cNvSpPr/>
          <p:nvPr/>
        </p:nvSpPr>
        <p:spPr>
          <a:xfrm>
            <a:off x="0" y="6219826"/>
            <a:ext cx="12192000" cy="638174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Rectangle 7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12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21455" y="6211058"/>
            <a:ext cx="2155826" cy="655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77280" y="6250652"/>
            <a:ext cx="576521" cy="576521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15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16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0" y="6219826"/>
            <a:ext cx="12192000" cy="638174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Rectangle 7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21455" y="6211058"/>
            <a:ext cx="2155826" cy="655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77280" y="6250652"/>
            <a:ext cx="576521" cy="57652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itbucket.org/product/features/pipelines" TargetMode="External"/><Relationship Id="rId3" Type="http://schemas.openxmlformats.org/officeDocument/2006/relationships/hyperlink" Target="https://jenkins.io/" TargetMode="External"/><Relationship Id="rId4" Type="http://schemas.openxmlformats.org/officeDocument/2006/relationships/hyperlink" Target="https://aws.amazon.com/codepipeline/" TargetMode="External"/><Relationship Id="rId5" Type="http://schemas.openxmlformats.org/officeDocument/2006/relationships/hyperlink" Target="https://circleci.com/" TargetMode="External"/><Relationship Id="rId6" Type="http://schemas.openxmlformats.org/officeDocument/2006/relationships/hyperlink" Target="https://azure.microsoft.com/" TargetMode="External"/><Relationship Id="rId7" Type="http://schemas.openxmlformats.org/officeDocument/2006/relationships/hyperlink" Target="https://about.gitlab.com/" TargetMode="External"/><Relationship Id="rId8" Type="http://schemas.openxmlformats.org/officeDocument/2006/relationships/hyperlink" Target="https://github.com/" TargetMode="Externa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2"/>
            <a:ext cx="12192000" cy="7019785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itle 1"/>
          <p:cNvSpPr txBox="1"/>
          <p:nvPr>
            <p:ph type="ctrTitle"/>
          </p:nvPr>
        </p:nvSpPr>
        <p:spPr>
          <a:xfrm>
            <a:off x="-1219197" y="-1356049"/>
            <a:ext cx="9144001" cy="2387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CI/CD Fundamentals</a:t>
            </a:r>
          </a:p>
        </p:txBody>
      </p:sp>
      <p:sp>
        <p:nvSpPr>
          <p:cNvPr id="128" name="Subtitle 2"/>
          <p:cNvSpPr txBox="1"/>
          <p:nvPr>
            <p:ph type="subTitle" sz="quarter" idx="1"/>
          </p:nvPr>
        </p:nvSpPr>
        <p:spPr>
          <a:xfrm>
            <a:off x="238125" y="1031551"/>
            <a:ext cx="9144000" cy="1655762"/>
          </a:xfrm>
          <a:prstGeom prst="rect">
            <a:avLst/>
          </a:prstGeom>
        </p:spPr>
        <p:txBody>
          <a:bodyPr/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t>Introduction to Python Software </a:t>
            </a:r>
            <a:br/>
            <a:r>
              <a:t>Development on GitHub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t>Lyda Hill Department of Bioinformatics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t>UT Southwestern Medical Center</a:t>
            </a:r>
          </a:p>
        </p:txBody>
      </p:sp>
      <p:sp>
        <p:nvSpPr>
          <p:cNvPr id="129" name="Rectangle 4"/>
          <p:cNvSpPr/>
          <p:nvPr/>
        </p:nvSpPr>
        <p:spPr>
          <a:xfrm>
            <a:off x="0" y="6219826"/>
            <a:ext cx="12192000" cy="638174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Rectangle 5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005A9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1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21455" y="6211058"/>
            <a:ext cx="2155826" cy="655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777280" y="6250652"/>
            <a:ext cx="576521" cy="576521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TextBox 8"/>
          <p:cNvSpPr txBox="1"/>
          <p:nvPr/>
        </p:nvSpPr>
        <p:spPr>
          <a:xfrm>
            <a:off x="3350766" y="6301085"/>
            <a:ext cx="5361623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https://about.codecov.io/blog/common-steps-in-a-complete-continuous-integration-workflow/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does CI/CD stand for?</a:t>
            </a:r>
          </a:p>
        </p:txBody>
      </p:sp>
      <p:sp>
        <p:nvSpPr>
          <p:cNvPr id="136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u="sng"/>
            </a:pPr>
            <a:r>
              <a:t>C</a:t>
            </a:r>
            <a:r>
              <a:rPr b="0" u="none"/>
              <a:t>ontinuous </a:t>
            </a:r>
            <a:r>
              <a:t>I</a:t>
            </a:r>
            <a:r>
              <a:rPr b="0" u="none"/>
              <a:t>ntegration</a:t>
            </a:r>
            <a:endParaRPr b="0" u="none"/>
          </a:p>
          <a:p>
            <a:pPr/>
          </a:p>
          <a:p>
            <a:pPr>
              <a:defRPr b="1" u="sng"/>
            </a:pPr>
            <a:r>
              <a:t>C</a:t>
            </a:r>
            <a:r>
              <a:rPr b="0" u="none"/>
              <a:t>ontinuous </a:t>
            </a:r>
            <a:r>
              <a:t>D</a:t>
            </a:r>
            <a:r>
              <a:rPr b="0" u="none"/>
              <a:t>elivery</a:t>
            </a:r>
            <a:endParaRPr b="0" u="none"/>
          </a:p>
          <a:p>
            <a:pPr/>
          </a:p>
          <a:p>
            <a:pPr>
              <a:defRPr b="1" u="sng"/>
            </a:pPr>
            <a:r>
              <a:t>C</a:t>
            </a:r>
            <a:r>
              <a:rPr b="0" u="none"/>
              <a:t>ontinuous </a:t>
            </a:r>
            <a:r>
              <a:t>D</a:t>
            </a:r>
            <a:r>
              <a:rPr b="0" u="none"/>
              <a:t>eployment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3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430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TextBox 4"/>
          <p:cNvSpPr txBox="1"/>
          <p:nvPr/>
        </p:nvSpPr>
        <p:spPr>
          <a:xfrm>
            <a:off x="3619975" y="6325046"/>
            <a:ext cx="4952048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https://www.atlassian.com/continuous-delivery/principles/continuous-integration-vs-delivery-vs-deployment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7100" y="527050"/>
            <a:ext cx="10337800" cy="5118100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TextBox 4"/>
          <p:cNvSpPr txBox="1"/>
          <p:nvPr/>
        </p:nvSpPr>
        <p:spPr>
          <a:xfrm>
            <a:off x="3093720" y="6420908"/>
            <a:ext cx="60045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https://deploybot.com/blog/continuous-development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Vocabulary</a:t>
            </a:r>
          </a:p>
        </p:txBody>
      </p:sp>
      <p:sp>
        <p:nvSpPr>
          <p:cNvPr id="147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/>
            <a:r>
              <a:t>Build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Vocabulary</a:t>
            </a:r>
          </a:p>
        </p:txBody>
      </p:sp>
      <p:sp>
        <p:nvSpPr>
          <p:cNvPr id="150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Build</a:t>
            </a:r>
            <a:r>
              <a:rPr b="0"/>
              <a:t> – Convert source code files into a standalone software that anyone can run on their machine.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Vocabulary</a:t>
            </a:r>
          </a:p>
        </p:txBody>
      </p:sp>
      <p:sp>
        <p:nvSpPr>
          <p:cNvPr id="15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Build</a:t>
            </a:r>
            <a:r>
              <a:rPr b="0"/>
              <a:t> – Convert source code files into a standalone software that anyone can run on their machine.</a:t>
            </a:r>
            <a:endParaRPr b="0"/>
          </a:p>
          <a:p>
            <a:pPr/>
          </a:p>
          <a:p>
            <a:pPr>
              <a:defRPr b="1"/>
            </a:pPr>
            <a:r>
              <a:t>Test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Vocabulary</a:t>
            </a:r>
          </a:p>
        </p:txBody>
      </p:sp>
      <p:sp>
        <p:nvSpPr>
          <p:cNvPr id="156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Build</a:t>
            </a:r>
            <a:r>
              <a:rPr b="0"/>
              <a:t> – Convert source code files into a standalone software that anyone can run on their machine.</a:t>
            </a:r>
            <a:endParaRPr b="0"/>
          </a:p>
          <a:p>
            <a:pPr/>
          </a:p>
          <a:p>
            <a:pPr>
              <a:defRPr b="1"/>
            </a:pPr>
            <a:r>
              <a:t>Test</a:t>
            </a:r>
            <a:r>
              <a:rPr b="0"/>
              <a:t> – Evaluate and verify software can do what it is supposed to do.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do we know this function works?</a:t>
            </a:r>
          </a:p>
        </p:txBody>
      </p:sp>
      <p:sp>
        <p:nvSpPr>
          <p:cNvPr id="159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rcRect l="0" t="0" r="0" b="53365"/>
          <a:stretch>
            <a:fillRect/>
          </a:stretch>
        </p:blipFill>
        <p:spPr>
          <a:xfrm>
            <a:off x="2231658" y="2503486"/>
            <a:ext cx="7728683" cy="1397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check it with a unit test</a:t>
            </a:r>
          </a:p>
        </p:txBody>
      </p:sp>
      <p:sp>
        <p:nvSpPr>
          <p:cNvPr id="16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1658" y="2503486"/>
            <a:ext cx="7728683" cy="29956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 subgroups</a:t>
            </a:r>
          </a:p>
        </p:txBody>
      </p:sp>
      <p:sp>
        <p:nvSpPr>
          <p:cNvPr id="167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Acceptance test </a:t>
            </a:r>
            <a:r>
              <a:rPr b="0"/>
              <a:t>– A group of unit tests that ensure the software meets specifications e.g. of a contract.</a:t>
            </a:r>
            <a:endParaRPr b="0"/>
          </a:p>
          <a:p>
            <a:pPr/>
          </a:p>
          <a:p>
            <a:pPr>
              <a:defRPr b="1"/>
            </a:pPr>
            <a:r>
              <a:t>Smoke test</a:t>
            </a:r>
            <a:r>
              <a:rPr b="0"/>
              <a:t> – A group of unit tests that act as a sanity check for severe failures. If you run the software, does smoke come out of the computer?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6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Vocabulary</a:t>
            </a:r>
          </a:p>
        </p:txBody>
      </p:sp>
      <p:sp>
        <p:nvSpPr>
          <p:cNvPr id="170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Build</a:t>
            </a:r>
            <a:r>
              <a:rPr b="0"/>
              <a:t> – Convert source code files into a standalone software that anyone can run on their machine.</a:t>
            </a:r>
            <a:endParaRPr b="0"/>
          </a:p>
          <a:p>
            <a:pPr/>
          </a:p>
          <a:p>
            <a:pPr>
              <a:defRPr b="1"/>
            </a:pPr>
            <a:r>
              <a:t>Test</a:t>
            </a:r>
            <a:r>
              <a:rPr b="0"/>
              <a:t> – Evaluate and verify software can do what it is supposed to do.</a:t>
            </a:r>
            <a:endParaRPr b="0"/>
          </a:p>
          <a:p>
            <a:pPr/>
          </a:p>
          <a:p>
            <a:pPr>
              <a:defRPr b="1"/>
            </a:pPr>
            <a:r>
              <a:t>Release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Vocabulary</a:t>
            </a:r>
          </a:p>
        </p:txBody>
      </p:sp>
      <p:sp>
        <p:nvSpPr>
          <p:cNvPr id="17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Build</a:t>
            </a:r>
            <a:r>
              <a:rPr b="0"/>
              <a:t> – Convert source code files into a standalone software that anyone can run on their machine.</a:t>
            </a:r>
            <a:endParaRPr b="0"/>
          </a:p>
          <a:p>
            <a:pPr/>
          </a:p>
          <a:p>
            <a:pPr>
              <a:defRPr b="1"/>
            </a:pPr>
            <a:r>
              <a:t>Test</a:t>
            </a:r>
            <a:r>
              <a:rPr b="0"/>
              <a:t> – Evaluate and verify software can do what it is supposed to do.</a:t>
            </a:r>
            <a:endParaRPr b="0"/>
          </a:p>
          <a:p>
            <a:pPr/>
          </a:p>
          <a:p>
            <a:pPr>
              <a:defRPr b="1"/>
            </a:pPr>
            <a:r>
              <a:t>Release</a:t>
            </a:r>
            <a:r>
              <a:rPr b="0"/>
              <a:t> – A build that is a new or upgraded version of the software.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Vocabulary</a:t>
            </a:r>
          </a:p>
        </p:txBody>
      </p:sp>
      <p:sp>
        <p:nvSpPr>
          <p:cNvPr id="176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Build</a:t>
            </a:r>
            <a:r>
              <a:rPr b="0"/>
              <a:t> – Convert source code files into a standalone software that anyone can run on their machine.</a:t>
            </a:r>
            <a:endParaRPr b="0"/>
          </a:p>
          <a:p>
            <a:pPr/>
          </a:p>
          <a:p>
            <a:pPr>
              <a:defRPr b="1"/>
            </a:pPr>
            <a:r>
              <a:t>Test</a:t>
            </a:r>
            <a:r>
              <a:rPr b="0"/>
              <a:t> – Evaluate and verify software can do what it is supposed to do.</a:t>
            </a:r>
            <a:endParaRPr b="0"/>
          </a:p>
          <a:p>
            <a:pPr/>
          </a:p>
          <a:p>
            <a:pPr>
              <a:defRPr b="1"/>
            </a:pPr>
            <a:r>
              <a:t>Release</a:t>
            </a:r>
            <a:r>
              <a:rPr b="0"/>
              <a:t> – A build that is a new or upgraded version of the software.</a:t>
            </a:r>
            <a:endParaRPr b="0"/>
          </a:p>
          <a:p>
            <a:pPr/>
          </a:p>
          <a:p>
            <a:pPr>
              <a:defRPr b="1"/>
            </a:pPr>
            <a:r>
              <a:t>Deploy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Vocabulary</a:t>
            </a:r>
          </a:p>
        </p:txBody>
      </p:sp>
      <p:sp>
        <p:nvSpPr>
          <p:cNvPr id="179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Build</a:t>
            </a:r>
            <a:r>
              <a:rPr b="0"/>
              <a:t> – Convert source code files into a standalone software that anyone can run on their machine.</a:t>
            </a:r>
            <a:endParaRPr b="0"/>
          </a:p>
          <a:p>
            <a:pPr/>
          </a:p>
          <a:p>
            <a:pPr>
              <a:defRPr b="1"/>
            </a:pPr>
            <a:r>
              <a:t>Test</a:t>
            </a:r>
            <a:r>
              <a:rPr b="0"/>
              <a:t> – Evaluate and verify software can do what it is supposed to do.</a:t>
            </a:r>
            <a:endParaRPr b="0"/>
          </a:p>
          <a:p>
            <a:pPr/>
          </a:p>
          <a:p>
            <a:pPr>
              <a:defRPr b="1"/>
            </a:pPr>
            <a:r>
              <a:t>Release</a:t>
            </a:r>
            <a:r>
              <a:rPr b="0"/>
              <a:t> – A build that is a new or upgraded version of the software.</a:t>
            </a:r>
            <a:endParaRPr b="0"/>
          </a:p>
          <a:p>
            <a:pPr/>
          </a:p>
          <a:p>
            <a:pPr>
              <a:defRPr b="1"/>
            </a:pPr>
            <a:r>
              <a:t>Deploy</a:t>
            </a:r>
            <a:r>
              <a:rPr b="0"/>
              <a:t> – Make the software available for use.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goal of CI/CD is to ensure developments do not stray far from the main branch</a:t>
            </a:r>
          </a:p>
        </p:txBody>
      </p:sp>
      <p:sp>
        <p:nvSpPr>
          <p:cNvPr id="182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64643" y="2345644"/>
            <a:ext cx="6462714" cy="3311300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TextBox 3"/>
          <p:cNvSpPr txBox="1"/>
          <p:nvPr/>
        </p:nvSpPr>
        <p:spPr>
          <a:xfrm>
            <a:off x="3093720" y="6420908"/>
            <a:ext cx="600456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https://www.nobledesktop.com/learn/git/git-branches</a:t>
            </a:r>
          </a:p>
        </p:txBody>
      </p:sp>
      <p:sp>
        <p:nvSpPr>
          <p:cNvPr id="185" name="TextBox 4"/>
          <p:cNvSpPr txBox="1"/>
          <p:nvPr/>
        </p:nvSpPr>
        <p:spPr>
          <a:xfrm>
            <a:off x="2536026" y="4343400"/>
            <a:ext cx="1683730" cy="4376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600">
                <a:solidFill>
                  <a:srgbClr val="00B200"/>
                </a:solidFill>
              </a:defRPr>
            </a:lvl1pPr>
          </a:lstStyle>
          <a:p>
            <a:pPr/>
            <a:r>
              <a:t>Main</a:t>
            </a:r>
          </a:p>
        </p:txBody>
      </p:sp>
      <p:sp>
        <p:nvSpPr>
          <p:cNvPr id="186" name="TextBox 5"/>
          <p:cNvSpPr txBox="1"/>
          <p:nvPr/>
        </p:nvSpPr>
        <p:spPr>
          <a:xfrm>
            <a:off x="4708919" y="2099422"/>
            <a:ext cx="2043293" cy="4376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600">
                <a:solidFill>
                  <a:srgbClr val="0281FF"/>
                </a:solidFill>
              </a:defRPr>
            </a:lvl1pPr>
          </a:lstStyle>
          <a:p>
            <a:pPr/>
            <a:r>
              <a:t>New Feature</a:t>
            </a:r>
          </a:p>
        </p:txBody>
      </p:sp>
      <p:sp>
        <p:nvSpPr>
          <p:cNvPr id="187" name="TextBox 6"/>
          <p:cNvSpPr txBox="1"/>
          <p:nvPr/>
        </p:nvSpPr>
        <p:spPr>
          <a:xfrm>
            <a:off x="5730566" y="5286471"/>
            <a:ext cx="3514726" cy="4376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600">
                <a:solidFill>
                  <a:srgbClr val="FF8F00"/>
                </a:solidFill>
              </a:defRPr>
            </a:lvl1pPr>
          </a:lstStyle>
          <a:p>
            <a:pPr/>
            <a:r>
              <a:t>Bugfix</a:t>
            </a:r>
          </a:p>
        </p:txBody>
      </p:sp>
      <p:sp>
        <p:nvSpPr>
          <p:cNvPr id="188" name="TextBox 7"/>
          <p:cNvSpPr txBox="1"/>
          <p:nvPr/>
        </p:nvSpPr>
        <p:spPr>
          <a:xfrm>
            <a:off x="3095666" y="3098300"/>
            <a:ext cx="564450" cy="4376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600">
                <a:solidFill>
                  <a:srgbClr val="AFABAB"/>
                </a:solidFill>
              </a:defRPr>
            </a:lvl1pPr>
          </a:lstStyle>
          <a:p>
            <a:pPr/>
            <a:r>
              <a:t>v0</a:t>
            </a:r>
          </a:p>
        </p:txBody>
      </p:sp>
      <p:sp>
        <p:nvSpPr>
          <p:cNvPr id="189" name="TextBox 8"/>
          <p:cNvSpPr txBox="1"/>
          <p:nvPr/>
        </p:nvSpPr>
        <p:spPr>
          <a:xfrm>
            <a:off x="7504234" y="3098300"/>
            <a:ext cx="564450" cy="4376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600">
                <a:solidFill>
                  <a:srgbClr val="AFABAB"/>
                </a:solidFill>
              </a:defRPr>
            </a:lvl1pPr>
          </a:lstStyle>
          <a:p>
            <a:pPr/>
            <a:r>
              <a:t>v1</a:t>
            </a:r>
          </a:p>
        </p:txBody>
      </p:sp>
      <p:sp>
        <p:nvSpPr>
          <p:cNvPr id="190" name="TextBox 9"/>
          <p:cNvSpPr txBox="1"/>
          <p:nvPr/>
        </p:nvSpPr>
        <p:spPr>
          <a:xfrm>
            <a:off x="8572368" y="3098300"/>
            <a:ext cx="875022" cy="4376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600">
                <a:solidFill>
                  <a:srgbClr val="AFABAB"/>
                </a:solidFill>
              </a:defRPr>
            </a:lvl1pPr>
          </a:lstStyle>
          <a:p>
            <a:pPr/>
            <a:r>
              <a:t>v1.1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is CI/CD useful?</a:t>
            </a:r>
          </a:p>
        </p:txBody>
      </p:sp>
      <p:sp>
        <p:nvSpPr>
          <p:cNvPr id="19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Ensures disparate parts of the code base work together throughout development, preventing integration challenges.</a:t>
            </a:r>
          </a:p>
          <a:p>
            <a:pPr/>
          </a:p>
          <a:p>
            <a:pPr/>
            <a:r>
              <a:t>Protects against release of broken software.</a:t>
            </a:r>
          </a:p>
          <a:p>
            <a:pPr/>
          </a:p>
          <a:p>
            <a:pPr/>
            <a:r>
              <a:t>Allows for fast feedback from users and fast fixes from developers.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9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do we implement CI/CD in practice?</a:t>
            </a:r>
          </a:p>
        </p:txBody>
      </p:sp>
      <p:sp>
        <p:nvSpPr>
          <p:cNvPr id="196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Version control </a:t>
            </a:r>
            <a:r>
              <a:rPr b="0"/>
              <a:t>(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b="0"/>
              <a:t>)</a:t>
            </a:r>
            <a:endParaRPr b="0"/>
          </a:p>
          <a:p>
            <a:pPr/>
          </a:p>
          <a:p>
            <a:pPr>
              <a:defRPr b="1"/>
            </a:pPr>
            <a:r>
              <a:t>Automatic testing </a:t>
            </a:r>
            <a:r>
              <a:rPr b="0"/>
              <a:t>(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pytest</a:t>
            </a:r>
            <a:r>
              <a:rPr b="0"/>
              <a:t>)</a:t>
            </a:r>
            <a:endParaRPr b="0"/>
          </a:p>
          <a:p>
            <a:pPr/>
          </a:p>
          <a:p>
            <a:pPr>
              <a:defRPr b="1"/>
            </a:pPr>
            <a:r>
              <a:t>Automatic building </a:t>
            </a:r>
            <a:r>
              <a:rPr b="0"/>
              <a:t>(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setuptools</a:t>
            </a:r>
            <a:r>
              <a:rPr b="0"/>
              <a:t>, 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pyproject.toml</a:t>
            </a:r>
            <a:r>
              <a:rPr b="0"/>
              <a:t>)</a:t>
            </a:r>
            <a:endParaRPr b="0"/>
          </a:p>
          <a:p>
            <a:pPr/>
          </a:p>
          <a:p>
            <a:pPr>
              <a:defRPr b="1"/>
            </a:pPr>
            <a:r>
              <a:t>Automatic deployment </a:t>
            </a:r>
            <a:r>
              <a:rPr b="0"/>
              <a:t>(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twine</a:t>
            </a:r>
            <a:r>
              <a:rPr b="0"/>
              <a:t>, 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PyPI</a:t>
            </a:r>
            <a:r>
              <a:rPr b="0"/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96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Additional CI/CD tools in the workflow</a:t>
            </a:r>
          </a:p>
        </p:txBody>
      </p:sp>
      <p:sp>
        <p:nvSpPr>
          <p:cNvPr id="199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Code quality </a:t>
            </a:r>
            <a:r>
              <a:rPr b="0"/>
              <a:t>(linter such as 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ruff</a:t>
            </a:r>
            <a:r>
              <a:rPr b="0"/>
              <a:t>, code formatter such as 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black</a:t>
            </a:r>
            <a:r>
              <a:rPr b="0"/>
              <a:t>)</a:t>
            </a:r>
            <a:endParaRPr b="0"/>
          </a:p>
          <a:p>
            <a:pPr/>
          </a:p>
          <a:p>
            <a:pPr>
              <a:defRPr b="1"/>
            </a:pPr>
            <a:r>
              <a:t>Test coverage check </a:t>
            </a:r>
            <a:r>
              <a:rPr b="0"/>
              <a:t>(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codecov</a:t>
            </a:r>
            <a:r>
              <a:rPr b="0"/>
              <a:t>)</a:t>
            </a:r>
            <a:endParaRPr b="0"/>
          </a:p>
          <a:p>
            <a:pPr marL="0" indent="0">
              <a:buSzTx/>
              <a:buNone/>
            </a:pPr>
          </a:p>
          <a:p>
            <a:pPr>
              <a:defRPr b="1"/>
            </a:pPr>
            <a:r>
              <a:t>Documentation</a:t>
            </a:r>
            <a:r>
              <a:rPr b="0"/>
              <a:t> (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sphinx</a:t>
            </a:r>
            <a:r>
              <a:rPr b="0"/>
              <a:t>, 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numpydoc</a:t>
            </a:r>
            <a:r>
              <a:rPr b="0"/>
              <a:t>)</a:t>
            </a:r>
            <a:endParaRPr b="0"/>
          </a:p>
          <a:p>
            <a:pPr/>
          </a:p>
          <a:p>
            <a:pPr>
              <a:defRPr b="1"/>
            </a:pPr>
            <a:r>
              <a:t>Security checks </a:t>
            </a:r>
            <a:r>
              <a:rPr b="0"/>
              <a:t>(</a:t>
            </a:r>
            <a:r>
              <a:rPr b="0">
                <a:latin typeface="Courier New"/>
                <a:ea typeface="Courier New"/>
                <a:cs typeface="Courier New"/>
                <a:sym typeface="Courier New"/>
              </a:rPr>
              <a:t>CodeQL</a:t>
            </a:r>
            <a:r>
              <a:rPr b="0"/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99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Local CI/CD workflows</a:t>
            </a:r>
          </a:p>
        </p:txBody>
      </p:sp>
      <p:sp>
        <p:nvSpPr>
          <p:cNvPr id="202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Can run some tools, such as the linter and code formatter, before pushing code to the repository</a:t>
            </a:r>
          </a:p>
          <a:p>
            <a:pPr/>
          </a:p>
          <a:p>
            <a:pPr/>
            <a:r>
              <a:t>Can automatically run some actions using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pre-commit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Running the CI/CD workflow</a:t>
            </a:r>
          </a:p>
        </p:txBody>
      </p:sp>
      <p:sp>
        <p:nvSpPr>
          <p:cNvPr id="205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</a:pPr>
            <a:r>
              <a:t>Need a continuous integration tool</a:t>
            </a:r>
          </a:p>
          <a:p>
            <a:pPr lvl="1" marL="685800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Bitbucket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https://bitbucket.org/product/features/pipelines</a:t>
            </a:r>
            <a:r>
              <a:t>)</a:t>
            </a:r>
          </a:p>
          <a:p>
            <a:pPr lvl="1" marL="685800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Jenkins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https://jenkins.io</a:t>
            </a:r>
            <a:r>
              <a:t>)</a:t>
            </a:r>
          </a:p>
          <a:p>
            <a:pPr lvl="1" marL="685800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AWS CodePipeline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4" invalidUrl="" action="" tgtFrame="" tooltip="" history="1" highlightClick="0" endSnd="0"/>
              </a:rPr>
              <a:t>https://aws.amazon.com/codepipeline</a:t>
            </a:r>
            <a:r>
              <a:t>)</a:t>
            </a:r>
          </a:p>
          <a:p>
            <a:pPr lvl="1" marL="685800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CircleCI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5" invalidUrl="" action="" tgtFrame="" tooltip="" history="1" highlightClick="0" endSnd="0"/>
              </a:rPr>
              <a:t>https://circleci.com</a:t>
            </a:r>
            <a:r>
              <a:t>)</a:t>
            </a:r>
          </a:p>
          <a:p>
            <a:pPr lvl="1" marL="685800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Azure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6" invalidUrl="" action="" tgtFrame="" tooltip="" history="1" highlightClick="0" endSnd="0"/>
              </a:rPr>
              <a:t>https://azure.microsoft.com/</a:t>
            </a:r>
            <a:r>
              <a:t>)</a:t>
            </a:r>
          </a:p>
          <a:p>
            <a:pPr lvl="1" marL="685800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Gitlab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7" invalidUrl="" action="" tgtFrame="" tooltip="" history="1" highlightClick="0" endSnd="0"/>
              </a:rPr>
              <a:t>https://about.gitlab.com/</a:t>
            </a:r>
            <a:r>
              <a:t>)</a:t>
            </a:r>
          </a:p>
          <a:p>
            <a:pPr lvl="1" marL="685800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GitHub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8" invalidUrl="" action="" tgtFrame="" tooltip="" history="1" highlightClick="0" endSnd="0"/>
              </a:rPr>
              <a:t>https://github.com/</a:t>
            </a:r>
            <a:r>
              <a:t>) </a:t>
            </a:r>
          </a:p>
          <a:p>
            <a:pPr lvl="1" marL="685800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Etc.</a:t>
            </a:r>
          </a:p>
          <a:p>
            <a:pPr>
              <a:lnSpc>
                <a:spcPct val="81000"/>
              </a:lnSpc>
            </a:pPr>
            <a:r>
              <a:t>These tools use a YAML file (or similar) to describe a series of actions that make up a workflow.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20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GitHub Actions Dashboard</a:t>
            </a:r>
          </a:p>
        </p:txBody>
      </p:sp>
      <p:pic>
        <p:nvPicPr>
          <p:cNvPr id="20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3559" y="1825625"/>
            <a:ext cx="10544882" cy="39322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GitHub Actions Workflow Example</a:t>
            </a:r>
          </a:p>
        </p:txBody>
      </p:sp>
      <p:pic>
        <p:nvPicPr>
          <p:cNvPr id="21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9937" y="1825625"/>
            <a:ext cx="10513863" cy="42322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0" t="12001" r="0" b="0"/>
          <a:stretch>
            <a:fillRect/>
          </a:stretch>
        </p:blipFill>
        <p:spPr>
          <a:xfrm>
            <a:off x="839067" y="1825625"/>
            <a:ext cx="10513864" cy="4486275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GitHub Actions Workflow Example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