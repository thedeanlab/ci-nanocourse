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23558499" y="1246072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rved, white arches on a gray reflective floor"/>
          <p:cNvSpPr/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ow angle view of a tall building with mirrored glass windows"/>
          <p:cNvSpPr/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rtial view of a ceiling with wood paneling"/>
          <p:cNvSpPr/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orridor of an open-air stone building under a pink and purple sky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lack and white close-up of a curved roof"/>
          <p:cNvSpPr/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Low angle view of a metal spiral staircase"/>
          <p:cNvSpPr/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uturistic, white corridor with shadows"/>
          <p:cNvSpPr/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astral.sh/ruff/configuration/" TargetMode="External"/><Relationship Id="rId3" Type="http://schemas.openxmlformats.org/officeDocument/2006/relationships/image" Target="../media/image15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astral.sh/ruff/" TargetMode="External"/><Relationship Id="rId3" Type="http://schemas.openxmlformats.org/officeDocument/2006/relationships/hyperlink" Target="https://black.readthedocs.io/en/stable/" TargetMode="External"/><Relationship Id="rId4" Type="http://schemas.openxmlformats.org/officeDocument/2006/relationships/hyperlink" Target="https://code.visualstudio.com/docs/python/linting" TargetMode="External"/><Relationship Id="rId5" Type="http://schemas.openxmlformats.org/officeDocument/2006/relationships/hyperlink" Target="https://pre-commit.com" TargetMode="Externa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re-commit.com/" TargetMode="External"/><Relationship Id="rId3" Type="http://schemas.openxmlformats.org/officeDocument/2006/relationships/hyperlink" Target="https://pre-commit.com/hooks.html" TargetMode="External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Code Quality, Code Formatting, and Linting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Outline</a:t>
            </a:r>
          </a:p>
        </p:txBody>
      </p:sp>
      <p:sp>
        <p:nvSpPr>
          <p:cNvPr id="17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4800"/>
            </a:pPr>
            <a:r>
              <a:t>Defining Clean Code</a:t>
            </a:r>
          </a:p>
          <a:p>
            <a:pPr>
              <a:defRPr sz="4800"/>
            </a:pPr>
            <a:r>
              <a:t>Techniques to Maintain Clean Code</a:t>
            </a:r>
          </a:p>
          <a:p>
            <a:pPr lvl="1">
              <a:spcBef>
                <a:spcPts val="1000"/>
              </a:spcBef>
            </a:pPr>
            <a:r>
              <a:t>Code formatters and linting</a:t>
            </a:r>
          </a:p>
          <a:p>
            <a:pPr>
              <a:defRPr sz="4800"/>
            </a:pPr>
            <a:r>
              <a:t>Utilizing pre-commit hooks to enforce coding standards and maintain code with Github. </a:t>
            </a:r>
          </a:p>
          <a:p>
            <a:pPr>
              <a:defRPr sz="4800"/>
            </a:pPr>
            <a:r>
              <a:t>Exercise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What is Clean Code?</a:t>
            </a:r>
          </a:p>
        </p:txBody>
      </p:sp>
      <p:sp>
        <p:nvSpPr>
          <p:cNvPr id="18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48055" indent="-448055" defTabSz="348488">
              <a:spcBef>
                <a:spcPts val="4600"/>
              </a:spcBef>
              <a:defRPr sz="3920"/>
            </a:pPr>
            <a:r>
              <a:t>Readable - Code is read more often than it is written. It should be easy to understand.</a:t>
            </a:r>
          </a:p>
          <a:p>
            <a:pPr marL="448055" indent="-448055" defTabSz="348488">
              <a:spcBef>
                <a:spcPts val="4600"/>
              </a:spcBef>
              <a:defRPr sz="3920"/>
            </a:pPr>
            <a:r>
              <a:t>Consistent formatting. Should follow PEP 8 standards for Python.</a:t>
            </a:r>
          </a:p>
          <a:p>
            <a:pPr marL="448055" indent="-448055" defTabSz="348488">
              <a:spcBef>
                <a:spcPts val="4600"/>
              </a:spcBef>
              <a:defRPr sz="3920"/>
            </a:pPr>
            <a:r>
              <a:t>Meaningful names - descriptive variable, function, and class names. </a:t>
            </a:r>
          </a:p>
          <a:p>
            <a:pPr marL="448055" indent="-448055" defTabSz="348488">
              <a:spcBef>
                <a:spcPts val="4600"/>
              </a:spcBef>
              <a:defRPr sz="3920"/>
            </a:pPr>
            <a:r>
              <a:t>Simple. Functions and classes should do one thing only, and do it well. </a:t>
            </a:r>
          </a:p>
          <a:p>
            <a:pPr marL="448055" indent="-448055" defTabSz="348488">
              <a:spcBef>
                <a:spcPts val="4600"/>
              </a:spcBef>
              <a:defRPr sz="3920"/>
            </a:pPr>
            <a:r>
              <a:t>Well-documented.</a:t>
            </a:r>
          </a:p>
          <a:p>
            <a:pPr marL="448055" indent="-448055" defTabSz="348488">
              <a:spcBef>
                <a:spcPts val="4600"/>
              </a:spcBef>
              <a:defRPr sz="3920"/>
            </a:pPr>
            <a:r>
              <a:t>Type hinted. </a:t>
            </a:r>
          </a:p>
          <a:p>
            <a:pPr marL="448055" indent="-448055" defTabSz="348488">
              <a:spcBef>
                <a:spcPts val="4600"/>
              </a:spcBef>
              <a:defRPr sz="3920"/>
            </a:pPr>
            <a:r>
              <a:t>Testable.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PEP 8 Naming Conventions</a:t>
            </a:r>
          </a:p>
        </p:txBody>
      </p:sp>
      <p:sp>
        <p:nvSpPr>
          <p:cNvPr id="183" name="Content Placeholder 2"/>
          <p:cNvSpPr txBox="1"/>
          <p:nvPr>
            <p:ph type="body" idx="1"/>
          </p:nvPr>
        </p:nvSpPr>
        <p:spPr>
          <a:xfrm>
            <a:off x="1206500" y="2840193"/>
            <a:ext cx="21971000" cy="9664323"/>
          </a:xfrm>
          <a:prstGeom prst="rect">
            <a:avLst/>
          </a:prstGeom>
        </p:spPr>
        <p:txBody>
          <a:bodyPr/>
          <a:lstStyle/>
          <a:p>
            <a:pPr/>
            <a:r>
              <a:t>Classes - CamelCase (MyClass)</a:t>
            </a:r>
          </a:p>
          <a:p>
            <a:pPr/>
            <a:r>
              <a:t>Variable - snake_case and lowercase (first_name)</a:t>
            </a:r>
          </a:p>
          <a:p>
            <a:pPr/>
            <a:r>
              <a:t>functions - snake_case and lowercase (quick_sort())</a:t>
            </a:r>
          </a:p>
          <a:p>
            <a:pPr/>
            <a:r>
              <a:t>Constants - snake_case and uppercase (PI = 3.14159)</a:t>
            </a:r>
          </a:p>
          <a:p>
            <a:pPr/>
            <a:r>
              <a:t>Modules should have short, snake_case names and all lowercase (numpy)</a:t>
            </a:r>
          </a:p>
          <a:p>
            <a:pPr/>
            <a:r>
              <a:t>Single quotes and double quotes are treated the same (just pick one and be consistent)</a:t>
            </a:r>
          </a:p>
          <a:p>
            <a:pPr/>
            <a:r>
              <a:t>Triple quotes should always be “””Your text here””” not ‘’’Your text here’’’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Variable Naming</a:t>
            </a:r>
          </a:p>
        </p:txBody>
      </p:sp>
      <p:sp>
        <p:nvSpPr>
          <p:cNvPr id="186" name="Content Placeholder 2"/>
          <p:cNvSpPr txBox="1"/>
          <p:nvPr>
            <p:ph type="body" idx="1"/>
          </p:nvPr>
        </p:nvSpPr>
        <p:spPr>
          <a:xfrm>
            <a:off x="1206500" y="2274701"/>
            <a:ext cx="21971000" cy="10229815"/>
          </a:xfrm>
          <a:prstGeom prst="rect">
            <a:avLst/>
          </a:prstGeom>
        </p:spPr>
        <p:txBody>
          <a:bodyPr/>
          <a:lstStyle/>
          <a:p>
            <a:pPr marL="306324" indent="-306324" defTabSz="238252">
              <a:spcBef>
                <a:spcPts val="3100"/>
              </a:spcBef>
              <a:defRPr sz="2680"/>
            </a:pPr>
            <a:r>
              <a:t>- Use descriptive, lowercase names – Variables should be meaningful and easy to understand.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max_users = 100  ❌ mu = 100  </a:t>
            </a:r>
          </a:p>
          <a:p>
            <a:pPr marL="306324" indent="-306324" defTabSz="238252">
              <a:spcBef>
                <a:spcPts val="3100"/>
              </a:spcBef>
              <a:defRPr sz="2680"/>
            </a:pPr>
            <a:r>
              <a:t>- Use underscores for multi-word names (snake case) – Improves readability.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user_count = 10  ❌ userCount = 10 (CamelCase is for classes, not variables)  </a:t>
            </a:r>
          </a:p>
          <a:p>
            <a:pPr marL="306324" indent="-306324" defTabSz="238252">
              <a:spcBef>
                <a:spcPts val="3100"/>
              </a:spcBef>
              <a:defRPr sz="2680"/>
            </a:pPr>
            <a:r>
              <a:t>- Avoid single-letter names (except for short loops) – Be explicit.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temperature_celsius = 25.0  ❌ t = 25.0  </a:t>
            </a:r>
          </a:p>
          <a:p>
            <a:pPr marL="306324" indent="-306324" defTabSz="238252">
              <a:spcBef>
                <a:spcPts val="3100"/>
              </a:spcBef>
              <a:defRPr sz="2680"/>
            </a:pPr>
            <a:r>
              <a:t>- Constants should be uppercase with underscores – Used for values that don’t change.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MAX_RETRIES = 5  ❌ maxRetries = 5  </a:t>
            </a:r>
          </a:p>
          <a:p>
            <a:pPr marL="306324" indent="-306324" defTabSz="238252">
              <a:spcBef>
                <a:spcPts val="3100"/>
              </a:spcBef>
              <a:defRPr sz="2680"/>
            </a:pPr>
            <a:r>
              <a:t>- Private variables start with an underscore – Signals internal use.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_cache = {}   ❌ cache = {} (unless public)  </a:t>
            </a:r>
          </a:p>
          <a:p>
            <a:pPr marL="306324" indent="-306324" defTabSz="238252">
              <a:spcBef>
                <a:spcPts val="3100"/>
              </a:spcBef>
              <a:defRPr sz="2680"/>
            </a:pPr>
            <a:r>
              <a:t>- Avoid reserved keywords – Prevent conflicts with Python’s built-in functions.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class_name = "Intro to CI"    ❌ class = "Intro to CI" (conflicts with the class keyword)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Functions Naming</a:t>
            </a:r>
          </a:p>
        </p:txBody>
      </p:sp>
      <p:sp>
        <p:nvSpPr>
          <p:cNvPr id="189" name="Content Placeholder 2"/>
          <p:cNvSpPr txBox="1"/>
          <p:nvPr>
            <p:ph type="body" idx="1"/>
          </p:nvPr>
        </p:nvSpPr>
        <p:spPr>
          <a:xfrm>
            <a:off x="1206500" y="2274701"/>
            <a:ext cx="21971000" cy="11100757"/>
          </a:xfrm>
          <a:prstGeom prst="rect">
            <a:avLst/>
          </a:prstGeom>
        </p:spPr>
        <p:txBody>
          <a:bodyPr/>
          <a:lstStyle/>
          <a:p>
            <a:pPr marL="306324" indent="-306324" defTabSz="238252">
              <a:spcBef>
                <a:spcPts val="3100"/>
              </a:spcBef>
              <a:defRPr sz="2680"/>
            </a:pPr>
            <a:r>
              <a:t>- Use lowercase with underscores – Improves readability and consistency.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def get_user_data():  ❌ def GetUserData(): (CamelCase is for classes)  </a:t>
            </a:r>
          </a:p>
          <a:p>
            <a:pPr marL="306324" indent="-306324" defTabSz="238252">
              <a:spcBef>
                <a:spcPts val="3100"/>
              </a:spcBef>
              <a:defRPr sz="2680"/>
            </a:pPr>
            <a:r>
              <a:t>- Use descriptive names – Functions should clearly indicate their purpose.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def calculate_total_price():    ❌ def calc():  </a:t>
            </a:r>
          </a:p>
          <a:p>
            <a:pPr marL="306324" indent="-306324" defTabSz="238252">
              <a:spcBef>
                <a:spcPts val="3100"/>
              </a:spcBef>
              <a:defRPr sz="2680"/>
            </a:pPr>
            <a:r>
              <a:t>- Use verbs for function names – Functions perform actions, so names should reflect that.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def fetch_records():    ❌ def records():  </a:t>
            </a:r>
          </a:p>
          <a:p>
            <a:pPr marL="306324" indent="-306324" defTabSz="238252">
              <a:spcBef>
                <a:spcPts val="3100"/>
              </a:spcBef>
              <a:defRPr sz="2680"/>
            </a:pPr>
            <a:r>
              <a:t>- Use a leading underscore for internal or private functions – Signals intended internal use.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def _connect_to_db():    ❌ def connect_to_db(): (if meant to be private)  </a:t>
            </a:r>
          </a:p>
          <a:p>
            <a:pPr marL="306324" indent="-306324" defTabSz="238252">
              <a:spcBef>
                <a:spcPts val="3100"/>
              </a:spcBef>
              <a:defRPr sz="2680"/>
            </a:pPr>
            <a:r>
              <a:t>- Avoid using built-in function names – Prevents accidental overrides.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def format_report():    ❌ def format(): (overrides Python’s built-in format function)  </a:t>
            </a:r>
          </a:p>
          <a:p>
            <a:pPr marL="306324" indent="-306324" defTabSz="238252">
              <a:spcBef>
                <a:spcPts val="3100"/>
              </a:spcBef>
              <a:defRPr sz="2680"/>
            </a:pPr>
            <a:r>
              <a:t>- Use double leading underscores only for name-mangling in classes – Rarely needed.  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✅ class Example:  def __private_method(self): Double underscore automatically renamed within a class…</a:t>
            </a:r>
          </a:p>
          <a:p>
            <a:pPr lvl="1" marL="612648" indent="-306324" defTabSz="238252">
              <a:spcBef>
                <a:spcPts val="3100"/>
              </a:spcBef>
              <a:defRPr sz="2680"/>
            </a:pPr>
            <a:r>
              <a:t>  ❌ def __method(): (not necessary outside classes)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Class Naming</a:t>
            </a:r>
          </a:p>
        </p:txBody>
      </p:sp>
      <p:sp>
        <p:nvSpPr>
          <p:cNvPr id="192" name="Content Placeholder 2"/>
          <p:cNvSpPr txBox="1"/>
          <p:nvPr>
            <p:ph type="body" idx="1"/>
          </p:nvPr>
        </p:nvSpPr>
        <p:spPr>
          <a:xfrm>
            <a:off x="1206500" y="2274701"/>
            <a:ext cx="21971000" cy="11100757"/>
          </a:xfrm>
          <a:prstGeom prst="rect">
            <a:avLst/>
          </a:prstGeom>
        </p:spPr>
        <p:txBody>
          <a:bodyPr/>
          <a:lstStyle/>
          <a:p>
            <a:pPr marL="333756" indent="-333756" defTabSz="259588">
              <a:spcBef>
                <a:spcPts val="3400"/>
              </a:spcBef>
              <a:defRPr sz="2920"/>
            </a:pPr>
            <a:r>
              <a:t>Use CapWords (PascalCase) – Each word starts with a capital letter, with no underscores.  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  ✅ class DataProcessor:   ❌ class data_processor:  </a:t>
            </a:r>
          </a:p>
          <a:p>
            <a:pPr marL="333756" indent="-333756" defTabSz="259588">
              <a:spcBef>
                <a:spcPts val="3400"/>
              </a:spcBef>
              <a:defRPr sz="2920"/>
            </a:pPr>
            <a:r>
              <a:t>Class names should be nouns or noun phrases – Represents objects or entities.  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  ✅ class UserProfile:    ❌ class processUser(): (Functions use verbs, not classes)  </a:t>
            </a:r>
          </a:p>
          <a:p>
            <a:pPr marL="333756" indent="-333756" defTabSz="259588">
              <a:spcBef>
                <a:spcPts val="3400"/>
              </a:spcBef>
              <a:defRPr sz="2920"/>
            </a:pPr>
            <a:r>
              <a:t>Avoid abbreviations – Use clear and meaningful names.  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  ✅ class AuthenticationManager:    ❌ class AuthMgr:  </a:t>
            </a:r>
          </a:p>
          <a:p>
            <a:pPr marL="333756" indent="-333756" defTabSz="259588">
              <a:spcBef>
                <a:spcPts val="3400"/>
              </a:spcBef>
              <a:defRPr sz="2920"/>
            </a:pPr>
            <a:r>
              <a:t>Use leading underscores for internal classes – Signals that the class is for internal use only.  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  ✅ class _InternalHelper:    ❌ class InternalHelper: (if not meant for external use)  </a:t>
            </a:r>
          </a:p>
          <a:p>
            <a:pPr marL="333756" indent="-333756" defTabSz="259588">
              <a:spcBef>
                <a:spcPts val="3400"/>
              </a:spcBef>
              <a:defRPr sz="2920"/>
            </a:pPr>
            <a:r>
              <a:t>Use metaclass naming convention – Append "Meta" if defining a metaclass.  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  ✅ class CustomMeta(type):    ❌ class CustomMetaclass:  </a:t>
            </a:r>
          </a:p>
          <a:p>
            <a:pPr marL="333756" indent="-333756" defTabSz="259588">
              <a:spcBef>
                <a:spcPts val="3400"/>
              </a:spcBef>
              <a:defRPr sz="2920"/>
            </a:pPr>
            <a:r>
              <a:t>Exception classes should end with `Error` – Makes it clear they are exceptions.  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  ✅ class ValidationError(Exception):    ❌ class ValidationIssue: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Line Formatting</a:t>
            </a:r>
          </a:p>
        </p:txBody>
      </p:sp>
      <p:sp>
        <p:nvSpPr>
          <p:cNvPr id="196" name="def process_large_dataset(data):…"/>
          <p:cNvSpPr txBox="1"/>
          <p:nvPr/>
        </p:nvSpPr>
        <p:spPr>
          <a:xfrm>
            <a:off x="1274825" y="6041135"/>
            <a:ext cx="16629758" cy="2344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spcBef>
                <a:spcPts val="0"/>
              </a:spcBef>
              <a:tabLst>
                <a:tab pos="368300" algn="l"/>
              </a:tabLst>
              <a:defRPr sz="3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def</a:t>
            </a:r>
            <a:r>
              <a:t> process_large_dataset(data):</a:t>
            </a:r>
          </a:p>
          <a:p>
            <a:pPr defTabSz="376554">
              <a:spcBef>
                <a:spcPts val="0"/>
              </a:spcBef>
              <a:tabLst>
                <a:tab pos="368300" algn="l"/>
              </a:tabLst>
              <a:defRPr sz="3600">
                <a:solidFill>
                  <a:srgbClr val="D12F1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000000">
                    <a:alpha val="85000"/>
                  </a:srgbClr>
                </a:solidFill>
              </a:rPr>
              <a:t>    </a:t>
            </a:r>
            <a:r>
              <a:t>"""Processes a dataset and returns useful statistics."""</a:t>
            </a:r>
            <a:endParaRPr>
              <a:solidFill>
                <a:srgbClr val="000000">
                  <a:alpha val="85000"/>
                </a:srgbClr>
              </a:solidFill>
            </a:endParaRPr>
          </a:p>
        </p:txBody>
      </p:sp>
      <p:sp>
        <p:nvSpPr>
          <p:cNvPr id="197" name="Lines should not exceed 79 characters – Improves readability, especially in side-by-side comparisons."/>
          <p:cNvSpPr txBox="1"/>
          <p:nvPr/>
        </p:nvSpPr>
        <p:spPr>
          <a:xfrm>
            <a:off x="1118734" y="3723640"/>
            <a:ext cx="22146531" cy="2712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Lines should not exceed 79 characters – Improves readability, especially in side-by-side comparisons.</a:t>
            </a:r>
          </a:p>
        </p:txBody>
      </p:sp>
      <p:sp>
        <p:nvSpPr>
          <p:cNvPr id="198" name="def process_large_dataset_with_very_long_name(data, additional_parameters, more_params):…"/>
          <p:cNvSpPr txBox="1"/>
          <p:nvPr/>
        </p:nvSpPr>
        <p:spPr>
          <a:xfrm>
            <a:off x="1274825" y="8845550"/>
            <a:ext cx="24336972" cy="16637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spcBef>
                <a:spcPts val="0"/>
              </a:spcBef>
              <a:tabLst>
                <a:tab pos="368300" algn="l"/>
              </a:tabLst>
              <a:defRPr sz="3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def</a:t>
            </a:r>
            <a:r>
              <a:t> process_large_dataset_with_very_long_name(data, additional_parameters, more_params):</a:t>
            </a:r>
          </a:p>
          <a:p>
            <a:pPr defTabSz="376554">
              <a:spcBef>
                <a:spcPts val="0"/>
              </a:spcBef>
              <a:tabLst>
                <a:tab pos="368300" algn="l"/>
              </a:tabLst>
              <a:defRPr sz="3600">
                <a:solidFill>
                  <a:srgbClr val="D12F1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000000">
                    <a:alpha val="85000"/>
                  </a:srgbClr>
                </a:solidFill>
              </a:rPr>
              <a:t>    </a:t>
            </a:r>
            <a:r>
              <a:t>"""This line is way too long and hard to read."""</a:t>
            </a:r>
            <a:endParaRPr>
              <a:solidFill>
                <a:srgbClr val="000000">
                  <a:alpha val="85000"/>
                </a:srgbClr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Line Formatting</a:t>
            </a:r>
          </a:p>
        </p:txBody>
      </p:sp>
      <p:sp>
        <p:nvSpPr>
          <p:cNvPr id="202" name="import os…"/>
          <p:cNvSpPr txBox="1"/>
          <p:nvPr/>
        </p:nvSpPr>
        <p:spPr>
          <a:xfrm>
            <a:off x="1071625" y="6292850"/>
            <a:ext cx="3509145" cy="3924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spcBef>
                <a:spcPts val="0"/>
              </a:spcBef>
              <a:tabLst>
                <a:tab pos="368300" algn="l"/>
              </a:tabLst>
              <a:defRPr sz="3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import os</a:t>
            </a:r>
          </a:p>
          <a:p>
            <a:pPr defTabSz="376554">
              <a:spcBef>
                <a:spcPts val="0"/>
              </a:spcBef>
              <a:tabLst>
                <a:tab pos="368300" algn="l"/>
              </a:tabLst>
              <a:defRPr sz="3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import sys</a:t>
            </a:r>
          </a:p>
          <a:p>
            <a:pPr defTabSz="376554">
              <a:spcBef>
                <a:spcPts val="0"/>
              </a:spcBef>
              <a:tabLst>
                <a:tab pos="368300" algn="l"/>
              </a:tabLst>
              <a:defRPr sz="3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376554">
              <a:spcBef>
                <a:spcPts val="0"/>
              </a:spcBef>
              <a:tabLst>
                <a:tab pos="368300" algn="l"/>
              </a:tabLst>
              <a:defRPr sz="3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x = </a:t>
            </a:r>
            <a:r>
              <a:rPr>
                <a:solidFill>
                  <a:srgbClr val="272AD8"/>
                </a:solidFill>
              </a:rPr>
              <a:t>5</a:t>
            </a:r>
          </a:p>
          <a:p>
            <a:pPr defTabSz="376554">
              <a:spcBef>
                <a:spcPts val="0"/>
              </a:spcBef>
              <a:tabLst>
                <a:tab pos="368300" algn="l"/>
              </a:tabLst>
              <a:defRPr sz="3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y = </a:t>
            </a:r>
            <a:r>
              <a:rPr>
                <a:solidFill>
                  <a:srgbClr val="272AD8"/>
                </a:solidFill>
              </a:rPr>
              <a:t>10</a:t>
            </a:r>
          </a:p>
          <a:p>
            <a:pPr defTabSz="376554">
              <a:spcBef>
                <a:spcPts val="0"/>
              </a:spcBef>
              <a:tabLst>
                <a:tab pos="368300" algn="l"/>
              </a:tabLst>
              <a:defRPr sz="3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print(x + y)</a:t>
            </a:r>
          </a:p>
        </p:txBody>
      </p:sp>
      <p:sp>
        <p:nvSpPr>
          <p:cNvPr id="203" name="Avoid multiple statements or imports on the same line…"/>
          <p:cNvSpPr txBox="1"/>
          <p:nvPr/>
        </p:nvSpPr>
        <p:spPr>
          <a:xfrm>
            <a:off x="1118734" y="3425190"/>
            <a:ext cx="22146531" cy="330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Avoid multiple statements or imports on the same line</a:t>
            </a:r>
          </a:p>
          <a:p>
            <a:pPr/>
            <a:r>
              <a:t>Use separate lines for clarity.</a:t>
            </a:r>
          </a:p>
        </p:txBody>
      </p:sp>
      <p:sp>
        <p:nvSpPr>
          <p:cNvPr id="204" name="import os, sys  # Harder to modify later…"/>
          <p:cNvSpPr txBox="1"/>
          <p:nvPr/>
        </p:nvSpPr>
        <p:spPr>
          <a:xfrm>
            <a:off x="1046225" y="10668000"/>
            <a:ext cx="12844966" cy="228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spcBef>
                <a:spcPts val="0"/>
              </a:spcBef>
              <a:tabLst>
                <a:tab pos="368300" algn="l"/>
              </a:tabLst>
              <a:defRPr sz="3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import</a:t>
            </a:r>
            <a:r>
              <a:t> os, sys  </a:t>
            </a:r>
            <a:r>
              <a:t># Harder to modify later</a:t>
            </a:r>
          </a:p>
          <a:p>
            <a:pPr defTabSz="376554">
              <a:spcBef>
                <a:spcPts val="0"/>
              </a:spcBef>
              <a:tabLst>
                <a:tab pos="368300" algn="l"/>
              </a:tabLst>
              <a:defRPr sz="3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376554">
              <a:spcBef>
                <a:spcPts val="0"/>
              </a:spcBef>
              <a:tabLst>
                <a:tab pos="368300" algn="l"/>
              </a:tabLst>
              <a:defRPr sz="3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x = </a:t>
            </a:r>
            <a:r>
              <a:rPr>
                <a:solidFill>
                  <a:srgbClr val="272AD8"/>
                </a:solidFill>
              </a:rPr>
              <a:t>5</a:t>
            </a:r>
            <a:r>
              <a:t>; y = </a:t>
            </a:r>
            <a:r>
              <a:rPr>
                <a:solidFill>
                  <a:srgbClr val="272AD8"/>
                </a:solidFill>
              </a:rPr>
              <a:t>10</a:t>
            </a:r>
            <a:r>
              <a:t>; print(x + y)  </a:t>
            </a:r>
            <a:r>
              <a:rPr>
                <a:solidFill>
                  <a:srgbClr val="707F8C"/>
                </a:solidFill>
              </a:rPr>
              <a:t># Harder to read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In-line Comments</a:t>
            </a:r>
          </a:p>
        </p:txBody>
      </p:sp>
      <p:sp>
        <p:nvSpPr>
          <p:cNvPr id="208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comments should not contradict the code</a:t>
            </a:r>
          </a:p>
          <a:p>
            <a:pPr/>
            <a:r>
              <a:t>comments should be complete sentences</a:t>
            </a:r>
          </a:p>
          <a:p>
            <a:pPr/>
            <a:r>
              <a:t>comments should have a space after the # sign with the first word capitalized</a:t>
            </a:r>
          </a:p>
          <a:p>
            <a:pPr/>
            <a:r>
              <a:t>don’t litter commented code throughout your software.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Documenting Code</a:t>
            </a:r>
          </a:p>
        </p:txBody>
      </p:sp>
      <p:sp>
        <p:nvSpPr>
          <p:cNvPr id="212" name="Content Placeholder 2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def</a:t>
            </a:r>
            <a:r>
              <a:t> divide(a, b):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D12F1B"/>
                </a:solidFill>
              </a:rPr>
              <a:t>"""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Divides two numbers.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Parameters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----------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a : float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Numerator.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b : float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Denominator.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Returns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-------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float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Result of division.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Raises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------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ZeroDivisionError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If b is zero.</a:t>
            </a:r>
          </a:p>
          <a:p>
            <a:pPr marL="0" indent="0" defTabSz="267354">
              <a:spcBef>
                <a:spcPts val="0"/>
              </a:spcBef>
              <a:buSzTx/>
              <a:buNone/>
              <a:tabLst>
                <a:tab pos="266700" algn="l"/>
              </a:tabLst>
              <a:defRPr sz="2626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"""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Coding Principles</a:t>
            </a:r>
          </a:p>
        </p:txBody>
      </p:sp>
      <p:sp>
        <p:nvSpPr>
          <p:cNvPr id="21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Don’t Repeat Yourself</a:t>
            </a:r>
          </a:p>
          <a:p>
            <a:pPr/>
            <a:r>
              <a:t>Keep it Simple</a:t>
            </a:r>
          </a:p>
          <a:p>
            <a:pPr/>
            <a:r>
              <a:t>Separation of Concerns</a:t>
            </a:r>
          </a:p>
          <a:p>
            <a:pPr/>
            <a:r>
              <a:t>Split classes into multiple subclasses, inheritances, abstractions, interfaces. </a:t>
            </a:r>
          </a:p>
          <a:p>
            <a:pPr/>
            <a:r>
              <a:t>SOLID Principles of Coding: (https://www.pentalog.com/blog/it-development-technology/solid-principles-object-oriented-programming/)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Methods to Improve Code Formatting</a:t>
            </a:r>
          </a:p>
        </p:txBody>
      </p:sp>
      <p:sp>
        <p:nvSpPr>
          <p:cNvPr id="220" name="Content Placeholder 2"/>
          <p:cNvSpPr txBox="1"/>
          <p:nvPr>
            <p:ph type="body" sz="half" idx="1"/>
          </p:nvPr>
        </p:nvSpPr>
        <p:spPr>
          <a:xfrm>
            <a:off x="1206500" y="4248504"/>
            <a:ext cx="14695686" cy="8256012"/>
          </a:xfrm>
          <a:prstGeom prst="rect">
            <a:avLst/>
          </a:prstGeom>
        </p:spPr>
        <p:txBody>
          <a:bodyPr/>
          <a:lstStyle/>
          <a:p>
            <a:pPr/>
            <a:r>
              <a:t>Decorators</a:t>
            </a:r>
          </a:p>
          <a:p>
            <a:pPr lvl="1"/>
            <a:r>
              <a:t>Define inner function inside function to call instead of defining inner function in each function call</a:t>
            </a:r>
            <a:endParaRPr sz="4800"/>
          </a:p>
          <a:p>
            <a:pPr lvl="1"/>
            <a:r>
              <a:t>Improves modularity</a:t>
            </a:r>
          </a:p>
        </p:txBody>
      </p:sp>
      <p:pic>
        <p:nvPicPr>
          <p:cNvPr id="221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061348" y="2859338"/>
            <a:ext cx="7308453" cy="100806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Methods to Improve Code Formatting</a:t>
            </a:r>
          </a:p>
        </p:txBody>
      </p:sp>
      <p:sp>
        <p:nvSpPr>
          <p:cNvPr id="225" name="Content Placeholder 2"/>
          <p:cNvSpPr txBox="1"/>
          <p:nvPr>
            <p:ph type="body" sz="half" idx="1"/>
          </p:nvPr>
        </p:nvSpPr>
        <p:spPr>
          <a:xfrm>
            <a:off x="1206500" y="4248504"/>
            <a:ext cx="11374140" cy="8256012"/>
          </a:xfrm>
          <a:prstGeom prst="rect">
            <a:avLst/>
          </a:prstGeom>
        </p:spPr>
        <p:txBody>
          <a:bodyPr/>
          <a:lstStyle/>
          <a:p>
            <a:pPr marL="365760" indent="-365760"/>
            <a:r>
              <a:t>Context Managers</a:t>
            </a:r>
            <a:endParaRPr sz="5000"/>
          </a:p>
          <a:p>
            <a:pPr lvl="1" marL="872836" indent="-415636"/>
            <a:r>
              <a:t>Manage how to interact with external databases and files.</a:t>
            </a:r>
          </a:p>
          <a:p>
            <a:pPr lvl="1" marL="872836" indent="-415636"/>
            <a:r>
              <a:t>Automatically opens and closes files, avoiding complications when errors occur.</a:t>
            </a:r>
            <a:br>
              <a:rPr sz="5000">
                <a:solidFill>
                  <a:srgbClr val="333333"/>
                </a:solidFill>
                <a:latin typeface="-apple-system"/>
                <a:ea typeface="-apple-system"/>
                <a:cs typeface="-apple-system"/>
                <a:sym typeface="-apple-system"/>
              </a:rPr>
            </a:br>
          </a:p>
        </p:txBody>
      </p:sp>
      <p:pic>
        <p:nvPicPr>
          <p:cNvPr id="22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2216" y="7356099"/>
            <a:ext cx="9474201" cy="2870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2216" y="4319399"/>
            <a:ext cx="10312401" cy="2336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Methods to Improve Code Formatting</a:t>
            </a:r>
          </a:p>
        </p:txBody>
      </p:sp>
      <p:sp>
        <p:nvSpPr>
          <p:cNvPr id="231" name="Content Placeholder 2"/>
          <p:cNvSpPr txBox="1"/>
          <p:nvPr>
            <p:ph type="body" sz="half" idx="1"/>
          </p:nvPr>
        </p:nvSpPr>
        <p:spPr>
          <a:xfrm>
            <a:off x="1206500" y="4248504"/>
            <a:ext cx="13891816" cy="8256012"/>
          </a:xfrm>
          <a:prstGeom prst="rect">
            <a:avLst/>
          </a:prstGeom>
        </p:spPr>
        <p:txBody>
          <a:bodyPr/>
          <a:lstStyle/>
          <a:p>
            <a:pPr marL="365760" indent="-365760"/>
            <a:r>
              <a:t>Iterators</a:t>
            </a:r>
            <a:endParaRPr sz="5000"/>
          </a:p>
          <a:p>
            <a:pPr lvl="1" marL="872836" indent="-415636"/>
            <a:r>
              <a:t>Use functions to iterate through variables</a:t>
            </a:r>
            <a:br/>
          </a:p>
        </p:txBody>
      </p:sp>
      <p:pic>
        <p:nvPicPr>
          <p:cNvPr id="23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476205" y="8248499"/>
            <a:ext cx="7950201" cy="2921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476205" y="4202038"/>
            <a:ext cx="7620001" cy="3530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Linting and Code Formatting</a:t>
            </a:r>
          </a:p>
        </p:txBody>
      </p:sp>
      <p:sp>
        <p:nvSpPr>
          <p:cNvPr id="237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Linting identifies formatting errors that can alter functionality of code and can correct for formatting</a:t>
            </a:r>
          </a:p>
          <a:p>
            <a:pPr lvl="1"/>
            <a:r>
              <a:t>Indentation errors, unused variables, etc. Enforces PEP 8 standards.</a:t>
            </a:r>
            <a:endParaRPr sz="4800"/>
          </a:p>
          <a:p>
            <a:pPr/>
            <a:r>
              <a:t>Code formatting changes stylistic appearance of code</a:t>
            </a:r>
          </a:p>
          <a:p>
            <a:pPr/>
            <a:r>
              <a:t>Linting is distinct from formatting because linting analyzes how the code runs and detects errors whereas formatting only restructures how code appears.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67711">
              <a:defRPr spc="-93" sz="9300"/>
            </a:lvl1pPr>
          </a:lstStyle>
          <a:p>
            <a:pPr/>
            <a:r>
              <a:t>Automated Linting and Code Formatting</a:t>
            </a:r>
          </a:p>
        </p:txBody>
      </p:sp>
      <p:sp>
        <p:nvSpPr>
          <p:cNvPr id="241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Pylint: Python Code Linter</a:t>
            </a:r>
          </a:p>
          <a:p>
            <a:pPr/>
            <a:r>
              <a:t>Flake8: Python Code Linter to identify style differences in code</a:t>
            </a:r>
          </a:p>
          <a:p>
            <a:pPr/>
            <a:r>
              <a:t>Black: code formatter</a:t>
            </a:r>
          </a:p>
          <a:p>
            <a:pPr/>
            <a:r>
              <a:t>Ruff: rust optimized code formatter and linter</a:t>
            </a:r>
          </a:p>
        </p:txBody>
      </p:sp>
      <p:pic>
        <p:nvPicPr>
          <p:cNvPr id="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17938" y="8878329"/>
            <a:ext cx="14922888" cy="45782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Black: Automated Code formatting</a:t>
            </a:r>
          </a:p>
        </p:txBody>
      </p:sp>
      <p:sp>
        <p:nvSpPr>
          <p:cNvPr id="24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Black is an automated code formatter that is able to automatically format code to PEP8 standards</a:t>
            </a:r>
          </a:p>
        </p:txBody>
      </p:sp>
      <p:pic>
        <p:nvPicPr>
          <p:cNvPr id="24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4732" y="5752212"/>
            <a:ext cx="9999561" cy="53504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92000" y="5752212"/>
            <a:ext cx="10065437" cy="53504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68631" y="11257957"/>
            <a:ext cx="11339041" cy="21919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Ruff: Automated Code Linting</a:t>
            </a:r>
          </a:p>
        </p:txBody>
      </p:sp>
      <p:sp>
        <p:nvSpPr>
          <p:cNvPr id="25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Identify unused variables and imports for removal.</a:t>
            </a:r>
          </a:p>
          <a:p>
            <a:pPr/>
            <a:r>
              <a:t>Style guides for code and whitespace organization</a:t>
            </a:r>
          </a:p>
          <a:p>
            <a:pPr/>
            <a:r>
              <a:t>700 different rules</a:t>
            </a:r>
          </a:p>
        </p:txBody>
      </p:sp>
      <p:pic>
        <p:nvPicPr>
          <p:cNvPr id="25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8320" y="6858000"/>
            <a:ext cx="10065437" cy="53504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29717" y="6858000"/>
            <a:ext cx="13944601" cy="2235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Ruff: Automated Code Linting</a:t>
            </a:r>
          </a:p>
        </p:txBody>
      </p:sp>
      <p:sp>
        <p:nvSpPr>
          <p:cNvPr id="259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Removing unused variables and imports.</a:t>
            </a:r>
          </a:p>
        </p:txBody>
      </p:sp>
      <p:pic>
        <p:nvPicPr>
          <p:cNvPr id="260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99260" y="7219950"/>
            <a:ext cx="12141201" cy="576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96060" y="5501242"/>
            <a:ext cx="12547601" cy="1143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Configuring Ruff</a:t>
            </a:r>
          </a:p>
        </p:txBody>
      </p:sp>
      <p:sp>
        <p:nvSpPr>
          <p:cNvPr id="265" name="Content Placeholder 2"/>
          <p:cNvSpPr txBox="1"/>
          <p:nvPr>
            <p:ph type="body" sz="half" idx="1"/>
          </p:nvPr>
        </p:nvSpPr>
        <p:spPr>
          <a:xfrm>
            <a:off x="1206500" y="4248504"/>
            <a:ext cx="11996043" cy="8256012"/>
          </a:xfrm>
          <a:prstGeom prst="rect">
            <a:avLst/>
          </a:prstGeom>
        </p:spPr>
        <p:txBody>
          <a:bodyPr/>
          <a:lstStyle/>
          <a:p>
            <a:pPr/>
            <a:r>
              <a:t>700 different rules</a:t>
            </a:r>
          </a:p>
          <a:p>
            <a:pPr lvl="1"/>
            <a:r>
              <a:t>Naming</a:t>
            </a:r>
            <a:endParaRPr sz="4800"/>
          </a:p>
          <a:p>
            <a:pPr lvl="1"/>
            <a:r>
              <a:t>Pydocstyles</a:t>
            </a:r>
            <a:endParaRPr sz="4800"/>
          </a:p>
          <a:p>
            <a:pPr lvl="1"/>
            <a:r>
              <a:t>Pyupgrade</a:t>
            </a:r>
            <a:endParaRPr sz="4800"/>
          </a:p>
          <a:p>
            <a:pPr lvl="1"/>
            <a:r>
              <a:t>Flake8 rules</a:t>
            </a:r>
            <a:endParaRPr sz="4800"/>
          </a:p>
          <a:p>
            <a:pPr/>
            <a:r>
              <a:t>Rules can be configured to specific styles or ignored to match the needs of your project</a:t>
            </a:r>
          </a:p>
        </p:txBody>
      </p:sp>
      <p:sp>
        <p:nvSpPr>
          <p:cNvPr id="266" name="https://docs.astral.sh/ruff/configuration/"/>
          <p:cNvSpPr txBox="1"/>
          <p:nvPr/>
        </p:nvSpPr>
        <p:spPr>
          <a:xfrm>
            <a:off x="145287" y="12899389"/>
            <a:ext cx="9436101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u="sng">
                <a:hlinkClick r:id="rId2" invalidUrl="" action="" tgtFrame="" tooltip="" history="1" highlightClick="0" endSnd="0"/>
              </a:rPr>
              <a:t>https://docs.astral.sh/ruff/configuration/</a:t>
            </a:r>
            <a:r>
              <a:t> </a:t>
            </a:r>
          </a:p>
        </p:txBody>
      </p:sp>
      <p:pic>
        <p:nvPicPr>
          <p:cNvPr id="26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522450" y="279400"/>
            <a:ext cx="9436100" cy="130684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67711">
              <a:defRPr spc="-93" sz="9300"/>
            </a:lvl1pPr>
          </a:lstStyle>
          <a:p>
            <a:pPr/>
            <a:r>
              <a:t>Configuring Ruff in IDE such as VSCODE</a:t>
            </a:r>
          </a:p>
        </p:txBody>
      </p:sp>
      <p:sp>
        <p:nvSpPr>
          <p:cNvPr id="271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Many IDEs such as vscode or pycharm have built in linters that identify smaller coding errors and improve code formatting</a:t>
            </a:r>
          </a:p>
          <a:p>
            <a:pPr/>
            <a:r>
              <a:t>Possible to install Ruff into vscode</a:t>
            </a:r>
          </a:p>
          <a:p>
            <a:pPr/>
            <a:r>
              <a:t>Linting is run when files are opened or saved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84959">
              <a:defRPr spc="-65" sz="6500"/>
            </a:lvl1pPr>
          </a:lstStyle>
          <a:p>
            <a:pPr/>
            <a:r>
              <a:t>Integrate Ruff or Black into github using pre-commit hooks</a:t>
            </a:r>
          </a:p>
        </p:txBody>
      </p:sp>
      <p:sp>
        <p:nvSpPr>
          <p:cNvPr id="275" name="Content Placeholder 2"/>
          <p:cNvSpPr txBox="1"/>
          <p:nvPr>
            <p:ph type="body" sz="half" idx="1"/>
          </p:nvPr>
        </p:nvSpPr>
        <p:spPr>
          <a:xfrm>
            <a:off x="1206500" y="4248504"/>
            <a:ext cx="10134600" cy="8256012"/>
          </a:xfrm>
          <a:prstGeom prst="rect">
            <a:avLst/>
          </a:prstGeom>
        </p:spPr>
        <p:txBody>
          <a:bodyPr/>
          <a:lstStyle/>
          <a:p>
            <a:pPr marL="388620" indent="-388620" defTabSz="302260">
              <a:lnSpc>
                <a:spcPct val="81000"/>
              </a:lnSpc>
              <a:spcBef>
                <a:spcPts val="3900"/>
              </a:spcBef>
              <a:defRPr sz="3910"/>
            </a:pPr>
            <a:r>
              <a:t>A good way to format code is when committing code into Github</a:t>
            </a:r>
          </a:p>
          <a:p>
            <a:pPr marL="388620" indent="-388620" defTabSz="302260">
              <a:lnSpc>
                <a:spcPct val="81000"/>
              </a:lnSpc>
              <a:spcBef>
                <a:spcPts val="3900"/>
              </a:spcBef>
              <a:defRPr sz="3910"/>
            </a:pPr>
            <a:r>
              <a:t>Linters and formatters such as Ruff and Black can be integrated into Github </a:t>
            </a:r>
          </a:p>
          <a:p>
            <a:pPr marL="388620" indent="-388620" defTabSz="302260">
              <a:lnSpc>
                <a:spcPct val="81000"/>
              </a:lnSpc>
              <a:spcBef>
                <a:spcPts val="3900"/>
              </a:spcBef>
              <a:defRPr sz="3910"/>
            </a:pPr>
            <a:r>
              <a:t>Install pre-commit in conda environment using pip install pre-commit or integrate pre-commit dependence in pyproject.toml</a:t>
            </a:r>
          </a:p>
          <a:p>
            <a:pPr marL="388620" indent="-388620" defTabSz="302260">
              <a:lnSpc>
                <a:spcPct val="81000"/>
              </a:lnSpc>
              <a:spcBef>
                <a:spcPts val="3900"/>
              </a:spcBef>
              <a:defRPr sz="3910"/>
            </a:pPr>
            <a:r>
              <a:t>Add a pre-commit config file called .pre-commit-config.yaml to project</a:t>
            </a:r>
          </a:p>
          <a:p>
            <a:pPr marL="388620" indent="-388620" defTabSz="302260">
              <a:lnSpc>
                <a:spcPct val="81000"/>
              </a:lnSpc>
              <a:spcBef>
                <a:spcPts val="3900"/>
              </a:spcBef>
              <a:defRPr sz="3910"/>
            </a:pPr>
            <a:r>
              <a:t>In yaml file: add ruff repo</a:t>
            </a:r>
          </a:p>
        </p:txBody>
      </p:sp>
      <p:pic>
        <p:nvPicPr>
          <p:cNvPr id="27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13779" y="3261354"/>
            <a:ext cx="11049001" cy="9525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Conclusions</a:t>
            </a:r>
          </a:p>
        </p:txBody>
      </p:sp>
      <p:sp>
        <p:nvSpPr>
          <p:cNvPr id="28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Code formatting and organizing is an important part coding</a:t>
            </a:r>
          </a:p>
          <a:p>
            <a:pPr/>
            <a:r>
              <a:t>Code formatters and linters such as ruff can be used to automatically format and detects formatting errors in code</a:t>
            </a:r>
          </a:p>
          <a:p>
            <a:pPr/>
            <a:r>
              <a:t>Linting can be implemented as a precommit hook and can be part of IDEs such as vscode or pycharm</a:t>
            </a:r>
          </a:p>
          <a:p>
            <a:pPr/>
            <a:r>
              <a:t>Clean code will lead to more understandable, reliable, and reproducible code.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Exercise</a:t>
            </a:r>
          </a:p>
        </p:txBody>
      </p:sp>
      <p:sp>
        <p:nvSpPr>
          <p:cNvPr id="284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4800"/>
            </a:pPr>
            <a:r>
              <a:t>Set up Ruff locally in your environment.  </a:t>
            </a:r>
          </a:p>
          <a:p>
            <a:pPr>
              <a:defRPr sz="4800"/>
            </a:pPr>
            <a:r>
              <a:t>Set up a pre-commit hook to run Ruff and black and install it in pyproject.toml to format calculator codebase.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Further Reading</a:t>
            </a:r>
          </a:p>
        </p:txBody>
      </p:sp>
      <p:sp>
        <p:nvSpPr>
          <p:cNvPr id="288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Ruff documentation: </a:t>
            </a:r>
            <a:r>
              <a:rPr u="sng">
                <a:hlinkClick r:id="rId2" invalidUrl="" action="" tgtFrame="" tooltip="" history="1" highlightClick="0" endSnd="0"/>
              </a:rPr>
              <a:t>https://docs.astral.sh/ruff/</a:t>
            </a:r>
            <a:r>
              <a:t> </a:t>
            </a:r>
          </a:p>
          <a:p>
            <a:pPr/>
            <a:r>
              <a:t>Black documentation: </a:t>
            </a:r>
            <a:r>
              <a:rPr u="sng">
                <a:hlinkClick r:id="rId3" invalidUrl="" action="" tgtFrame="" tooltip="" history="1" highlightClick="0" endSnd="0"/>
              </a:rPr>
              <a:t>https://black.readthedocs.io/en/stable/</a:t>
            </a:r>
            <a:r>
              <a:t> </a:t>
            </a:r>
          </a:p>
          <a:p>
            <a:pPr/>
            <a:r>
              <a:t>Linting in vscode: </a:t>
            </a:r>
            <a:r>
              <a:rPr u="sng">
                <a:hlinkClick r:id="rId4" invalidUrl="" action="" tgtFrame="" tooltip="" history="1" highlightClick="0" endSnd="0"/>
              </a:rPr>
              <a:t>https://code.visualstudio.com/docs/python/linting</a:t>
            </a:r>
          </a:p>
          <a:p>
            <a:pPr/>
            <a:r>
              <a:t>Pre-commit documentation: </a:t>
            </a:r>
            <a:r>
              <a:rPr u="sng">
                <a:hlinkClick r:id="rId5" invalidUrl="" action="" tgtFrame="" tooltip="" history="1" highlightClick="0" endSnd="0"/>
              </a:rPr>
              <a:t>https://pre-commit.com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First Run Ruff Locally to identify errors</a:t>
            </a:r>
          </a:p>
        </p:txBody>
      </p:sp>
      <p:sp>
        <p:nvSpPr>
          <p:cNvPr id="29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Installing Ruff in your environment using</a:t>
            </a:r>
          </a:p>
          <a:p>
            <a:pPr lvl="1"/>
            <a:r>
              <a:t>Pip install Ruff</a:t>
            </a:r>
            <a:endParaRPr sz="4800"/>
          </a:p>
          <a:p>
            <a:pPr/>
            <a:r>
              <a:t>Once installed, go to folder where repo is located</a:t>
            </a:r>
          </a:p>
          <a:p>
            <a:pPr/>
            <a:r>
              <a:t>Go to src folder</a:t>
            </a:r>
          </a:p>
          <a:p>
            <a:pPr/>
            <a:r>
              <a:t>Type “ruff check .” In command line</a:t>
            </a:r>
          </a:p>
        </p:txBody>
      </p:sp>
      <p:pic>
        <p:nvPicPr>
          <p:cNvPr id="29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75996" y="10239013"/>
            <a:ext cx="14432008" cy="32071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Setting up a Pre-commit</a:t>
            </a:r>
          </a:p>
        </p:txBody>
      </p:sp>
      <p:sp>
        <p:nvSpPr>
          <p:cNvPr id="297" name="Content Placeholder 2"/>
          <p:cNvSpPr txBox="1"/>
          <p:nvPr>
            <p:ph type="body" sz="half" idx="1"/>
          </p:nvPr>
        </p:nvSpPr>
        <p:spPr>
          <a:xfrm>
            <a:off x="1206500" y="4248504"/>
            <a:ext cx="11106845" cy="8256012"/>
          </a:xfrm>
          <a:prstGeom prst="rect">
            <a:avLst/>
          </a:prstGeom>
        </p:spPr>
        <p:txBody>
          <a:bodyPr/>
          <a:lstStyle/>
          <a:p>
            <a:pPr marL="402336" indent="-402336" defTabSz="312927">
              <a:spcBef>
                <a:spcPts val="4100"/>
              </a:spcBef>
              <a:defRPr sz="3520"/>
            </a:pPr>
            <a:r>
              <a:t>First Install Pre-commit</a:t>
            </a:r>
          </a:p>
          <a:p>
            <a:pPr lvl="1" marL="804672" indent="-402336" defTabSz="312927">
              <a:spcBef>
                <a:spcPts val="4100"/>
              </a:spcBef>
              <a:defRPr sz="3520"/>
            </a:pPr>
            <a:r>
              <a:t>pip install pre-commit</a:t>
            </a:r>
            <a:endParaRPr sz="4224"/>
          </a:p>
          <a:p>
            <a:pPr lvl="1" marL="804672" indent="-402336" defTabSz="312927">
              <a:spcBef>
                <a:spcPts val="4100"/>
              </a:spcBef>
              <a:defRPr sz="3520"/>
            </a:pPr>
            <a:r>
              <a:t>Add dependency in pyproject.toml (it should already be added)</a:t>
            </a:r>
            <a:endParaRPr sz="4224"/>
          </a:p>
          <a:p>
            <a:pPr marL="402336" indent="-402336" defTabSz="312927">
              <a:spcBef>
                <a:spcPts val="4100"/>
              </a:spcBef>
              <a:defRPr sz="3520"/>
            </a:pPr>
            <a:r>
              <a:t>create .pre-commit-config.yaml file and add to repo</a:t>
            </a:r>
          </a:p>
          <a:p>
            <a:pPr marL="402336" indent="-402336" defTabSz="312927">
              <a:spcBef>
                <a:spcPts val="4100"/>
              </a:spcBef>
              <a:defRPr sz="3520"/>
            </a:pPr>
            <a:r>
              <a:t>In .pre-commit-config.yaml file</a:t>
            </a:r>
          </a:p>
          <a:p>
            <a:pPr lvl="1" marL="402336" indent="0" defTabSz="312927">
              <a:spcBef>
                <a:spcPts val="4100"/>
              </a:spcBef>
              <a:defRPr sz="3520"/>
            </a:pPr>
            <a:r>
              <a:t>Add the following pre-commit information</a:t>
            </a:r>
            <a:endParaRPr sz="4224"/>
          </a:p>
          <a:p>
            <a:pPr lvl="1" marL="402336" indent="0" defTabSz="312927">
              <a:spcBef>
                <a:spcPts val="4100"/>
              </a:spcBef>
              <a:defRPr sz="3520"/>
            </a:pPr>
            <a:r>
              <a:t> </a:t>
            </a:r>
          </a:p>
        </p:txBody>
      </p:sp>
      <p:pic>
        <p:nvPicPr>
          <p:cNvPr id="29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0" r="42675" b="0"/>
          <a:stretch>
            <a:fillRect/>
          </a:stretch>
        </p:blipFill>
        <p:spPr>
          <a:xfrm>
            <a:off x="12812111" y="4334139"/>
            <a:ext cx="9946289" cy="80847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Editing .pre-commit-config.yaml file</a:t>
            </a:r>
          </a:p>
        </p:txBody>
      </p:sp>
      <p:sp>
        <p:nvSpPr>
          <p:cNvPr id="302" name="Content Placeholder 2"/>
          <p:cNvSpPr txBox="1"/>
          <p:nvPr>
            <p:ph type="body" sz="half" idx="1"/>
          </p:nvPr>
        </p:nvSpPr>
        <p:spPr>
          <a:xfrm>
            <a:off x="1206500" y="4248504"/>
            <a:ext cx="9683453" cy="8256012"/>
          </a:xfrm>
          <a:prstGeom prst="rect">
            <a:avLst/>
          </a:prstGeom>
        </p:spPr>
        <p:txBody>
          <a:bodyPr/>
          <a:lstStyle/>
          <a:p>
            <a:pPr marL="406908" indent="-406908" defTabSz="316484">
              <a:spcBef>
                <a:spcPts val="4100"/>
              </a:spcBef>
              <a:defRPr sz="3559"/>
            </a:pPr>
            <a:r>
              <a:t>Configure .pre-commit-config.yaml file to use ruff </a:t>
            </a:r>
          </a:p>
          <a:p>
            <a:pPr marL="406908" indent="-406908" defTabSz="316484">
              <a:spcBef>
                <a:spcPts val="4100"/>
              </a:spcBef>
              <a:defRPr sz="3559"/>
            </a:pPr>
            <a:r>
              <a:t>Add ruff pre-commit to pre-commit.yaml file to include ruff</a:t>
            </a:r>
          </a:p>
          <a:p>
            <a:pPr marL="406908" indent="-406908" defTabSz="316484">
              <a:spcBef>
                <a:spcPts val="4100"/>
              </a:spcBef>
              <a:defRPr sz="3559"/>
            </a:pPr>
            <a:r>
              <a:t>Find information for other packages for pre-commits here:</a:t>
            </a:r>
          </a:p>
          <a:p>
            <a:pPr lvl="1" marL="813816" indent="-406908" defTabSz="316484">
              <a:spcBef>
                <a:spcPts val="4100"/>
              </a:spcBef>
              <a:defRPr sz="3559"/>
            </a:pPr>
            <a:r>
              <a:rPr u="sng">
                <a:hlinkClick r:id="rId2" invalidUrl="" action="" tgtFrame="" tooltip="" history="1" highlightClick="0" endSnd="0"/>
              </a:rPr>
              <a:t>https://pre-commit.com/</a:t>
            </a:r>
            <a:endParaRPr sz="4272"/>
          </a:p>
          <a:p>
            <a:pPr lvl="1" marL="813816" indent="-406908" defTabSz="316484">
              <a:spcBef>
                <a:spcPts val="4100"/>
              </a:spcBef>
              <a:defRPr sz="3559"/>
            </a:pPr>
            <a:r>
              <a:rPr u="sng">
                <a:hlinkClick r:id="rId3" invalidUrl="" action="" tgtFrame="" tooltip="" history="1" highlightClick="0" endSnd="0"/>
              </a:rPr>
              <a:t>https://pre-commit.com/hooks.html</a:t>
            </a:r>
            <a:r>
              <a:rPr sz="4272"/>
              <a:t> </a:t>
            </a:r>
            <a:endParaRPr sz="4272"/>
          </a:p>
          <a:p>
            <a:pPr lvl="1" marL="813816" indent="-406908" defTabSz="316484">
              <a:spcBef>
                <a:spcPts val="4100"/>
              </a:spcBef>
              <a:defRPr sz="3559"/>
            </a:pPr>
            <a:r>
              <a:t>Push yaml file to repo on github</a:t>
            </a:r>
          </a:p>
        </p:txBody>
      </p:sp>
      <p:pic>
        <p:nvPicPr>
          <p:cNvPr id="303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187616" y="7435850"/>
            <a:ext cx="13055601" cy="3327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4" name="Picture 7" descr="Picture 7"/>
          <p:cNvPicPr>
            <a:picLocks noChangeAspect="1"/>
          </p:cNvPicPr>
          <p:nvPr/>
        </p:nvPicPr>
        <p:blipFill>
          <a:blip r:embed="rId5">
            <a:extLst/>
          </a:blip>
          <a:srcRect l="0" t="0" r="9727" b="0"/>
          <a:stretch>
            <a:fillRect/>
          </a:stretch>
        </p:blipFill>
        <p:spPr>
          <a:xfrm>
            <a:off x="11187616" y="3381376"/>
            <a:ext cx="13023851" cy="3784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Using pre-commit</a:t>
            </a:r>
          </a:p>
        </p:txBody>
      </p:sp>
      <p:sp>
        <p:nvSpPr>
          <p:cNvPr id="308" name="Content Placeholder 2"/>
          <p:cNvSpPr txBox="1"/>
          <p:nvPr>
            <p:ph type="body" sz="half" idx="1"/>
          </p:nvPr>
        </p:nvSpPr>
        <p:spPr>
          <a:xfrm>
            <a:off x="1206500" y="4248504"/>
            <a:ext cx="11791851" cy="8256012"/>
          </a:xfrm>
          <a:prstGeom prst="rect">
            <a:avLst/>
          </a:prstGeom>
        </p:spPr>
        <p:txBody>
          <a:bodyPr/>
          <a:lstStyle/>
          <a:p>
            <a:pPr marL="310896" indent="-310896" defTabSz="302260">
              <a:spcBef>
                <a:spcPts val="3900"/>
              </a:spcBef>
              <a:defRPr sz="3400"/>
            </a:pPr>
            <a:r>
              <a:t>To install pre-commit hooks from configuration yaml file</a:t>
            </a:r>
            <a:endParaRPr sz="4250"/>
          </a:p>
          <a:p>
            <a:pPr lvl="1" marL="741910" indent="-353290" defTabSz="302260">
              <a:spcBef>
                <a:spcPts val="3900"/>
              </a:spcBef>
              <a:defRPr sz="3400"/>
            </a:pPr>
            <a:r>
              <a:t>pre-commit install</a:t>
            </a:r>
            <a:endParaRPr sz="3740"/>
          </a:p>
          <a:p>
            <a:pPr lvl="1" marL="741910" indent="-353290" defTabSz="302260">
              <a:spcBef>
                <a:spcPts val="3900"/>
              </a:spcBef>
              <a:defRPr sz="3400"/>
            </a:pPr>
            <a:r>
              <a:t>This install pre-commit hooks for each upcoming commit</a:t>
            </a:r>
            <a:endParaRPr sz="3740"/>
          </a:p>
          <a:p>
            <a:pPr marL="310896" indent="-310896" defTabSz="302260">
              <a:spcBef>
                <a:spcPts val="3900"/>
              </a:spcBef>
              <a:defRPr sz="3400"/>
            </a:pPr>
            <a:r>
              <a:t>To run pre-commit hooks on current files, go to specific directory and run </a:t>
            </a:r>
            <a:endParaRPr sz="4250"/>
          </a:p>
          <a:p>
            <a:pPr lvl="1" marL="741910" indent="-353290" defTabSz="302260">
              <a:spcBef>
                <a:spcPts val="3900"/>
              </a:spcBef>
              <a:defRPr sz="3400"/>
            </a:pPr>
            <a:r>
              <a:t>Pre-commit run --all-files </a:t>
            </a:r>
            <a:endParaRPr sz="3740"/>
          </a:p>
          <a:p>
            <a:pPr marL="310896" indent="-310896" defTabSz="302260">
              <a:spcBef>
                <a:spcPts val="3900"/>
              </a:spcBef>
              <a:defRPr sz="3400"/>
            </a:pPr>
            <a:r>
              <a:t>This will identify all errors</a:t>
            </a:r>
            <a:endParaRPr sz="4250"/>
          </a:p>
          <a:p>
            <a:pPr lvl="1" marL="741910" indent="-353290" defTabSz="302260">
              <a:spcBef>
                <a:spcPts val="3900"/>
              </a:spcBef>
              <a:defRPr sz="3400"/>
            </a:pPr>
            <a:r>
              <a:t>We can autofix errors by specifying autofix.</a:t>
            </a:r>
          </a:p>
        </p:txBody>
      </p:sp>
      <p:pic>
        <p:nvPicPr>
          <p:cNvPr id="30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rcRect l="0" t="0" r="42675" b="0"/>
          <a:stretch>
            <a:fillRect/>
          </a:stretch>
        </p:blipFill>
        <p:spPr>
          <a:xfrm>
            <a:off x="13160703" y="3651250"/>
            <a:ext cx="9946289" cy="80847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